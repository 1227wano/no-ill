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91" r:id="rId2"/>
    <p:sldId id="257" r:id="rId3"/>
    <p:sldId id="258" r:id="rId4"/>
    <p:sldId id="304" r:id="rId5"/>
    <p:sldId id="293" r:id="rId6"/>
    <p:sldId id="305" r:id="rId7"/>
    <p:sldId id="295" r:id="rId8"/>
    <p:sldId id="302" r:id="rId9"/>
    <p:sldId id="303" r:id="rId10"/>
    <p:sldId id="307" r:id="rId11"/>
    <p:sldId id="306" r:id="rId12"/>
    <p:sldId id="296" r:id="rId13"/>
    <p:sldId id="308" r:id="rId14"/>
    <p:sldId id="309" r:id="rId15"/>
    <p:sldId id="310" r:id="rId16"/>
    <p:sldId id="312" r:id="rId17"/>
    <p:sldId id="31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EAFD395-E923-4EBC-9588-9E51977C62DB}">
          <p14:sldIdLst>
            <p14:sldId id="291"/>
          </p14:sldIdLst>
        </p14:section>
        <p14:section name="Display" id="{B7500087-DCBF-4274-B9DF-7AF27F57B208}">
          <p14:sldIdLst>
            <p14:sldId id="257"/>
            <p14:sldId id="258"/>
            <p14:sldId id="304"/>
            <p14:sldId id="293"/>
            <p14:sldId id="305"/>
            <p14:sldId id="295"/>
            <p14:sldId id="302"/>
            <p14:sldId id="303"/>
          </p14:sldIdLst>
        </p14:section>
        <p14:section name="service(app)" id="{7C5A03F4-06B5-49BA-BE21-C45D8F9D6B42}">
          <p14:sldIdLst>
            <p14:sldId id="307"/>
            <p14:sldId id="306"/>
            <p14:sldId id="296"/>
            <p14:sldId id="308"/>
            <p14:sldId id="309"/>
            <p14:sldId id="310"/>
            <p14:sldId id="312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4159C-8DEA-4392-B468-241DEAE21764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B9D6E-C92C-411B-AA35-E29115C43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440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159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b71ad3138e_6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b71ad3138e_6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8416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779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b71ad3138e_6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b71ad3138e_6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7619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776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b71ad3138e_6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b71ad3138e_6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3580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794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b71ad3138e_6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b71ad3138e_6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1365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877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08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2739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519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352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929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345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71ad3138e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71ad3138e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161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3710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제목 및 내용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878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구역 머리글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8164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콘텐츠 2개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964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비교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275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제목만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22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35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캡션 있는 콘텐츠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370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캡션 있는 그림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30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제목 및 세로 텍스트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52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세로 제목 및 텍스트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29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0428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4398963" y="1825625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br>
              <a:rPr lang="ko-KR" alt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11" name="Google Shape;111;p15"/>
          <p:cNvGraphicFramePr/>
          <p:nvPr>
            <p:extLst>
              <p:ext uri="{D42A27DB-BD31-4B8C-83A1-F6EECF244321}">
                <p14:modId xmlns:p14="http://schemas.microsoft.com/office/powerpoint/2010/main" val="2218268439"/>
              </p:ext>
            </p:extLst>
          </p:nvPr>
        </p:nvGraphicFramePr>
        <p:xfrm>
          <a:off x="203201" y="672650"/>
          <a:ext cx="10901866" cy="12000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7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93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5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 dirty="0"/>
                        <a:t>대</a:t>
                      </a:r>
                      <a:r>
                        <a:rPr lang="en-US" altLang="ko-KR" sz="1300" b="1" u="none" strike="noStrike" cap="none" dirty="0"/>
                        <a:t> </a:t>
                      </a:r>
                      <a:r>
                        <a:rPr lang="ko-KR" sz="1300" b="1" u="none" strike="noStrike" cap="none" dirty="0"/>
                        <a:t>메뉴</a:t>
                      </a:r>
                      <a:endParaRPr sz="1300" b="1" u="none" strike="noStrike" cap="none" dirty="0"/>
                    </a:p>
                  </a:txBody>
                  <a:tcPr marL="43975" marR="43975" marT="20291" marB="20291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 dirty="0"/>
                        <a:t>중</a:t>
                      </a:r>
                      <a:r>
                        <a:rPr lang="en-US" altLang="ko-KR" sz="1300" b="1" u="none" strike="noStrike" cap="none" dirty="0"/>
                        <a:t> </a:t>
                      </a:r>
                      <a:r>
                        <a:rPr lang="ko-KR" sz="1300" b="1" u="none" strike="noStrike" cap="none" dirty="0"/>
                        <a:t>메뉴</a:t>
                      </a:r>
                      <a:endParaRPr sz="1300" b="1" u="none" strike="noStrike" cap="none" dirty="0"/>
                    </a:p>
                  </a:txBody>
                  <a:tcPr marL="43975" marR="43975" marT="20291" marB="20291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 dirty="0" err="1"/>
                        <a:t>Screen</a:t>
                      </a:r>
                      <a:r>
                        <a:rPr lang="ko-KR" sz="1300" b="1" u="none" strike="noStrike" cap="none" dirty="0"/>
                        <a:t> ID</a:t>
                      </a:r>
                      <a:endParaRPr sz="1300" dirty="0"/>
                    </a:p>
                  </a:txBody>
                  <a:tcPr marL="43975" marR="43975" marT="20291" marB="20291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 dirty="0" err="1"/>
                        <a:t>Page</a:t>
                      </a:r>
                      <a:r>
                        <a:rPr lang="ko-KR" sz="1300" b="1" u="none" strike="noStrike" cap="none" dirty="0"/>
                        <a:t> </a:t>
                      </a:r>
                      <a:r>
                        <a:rPr lang="ko-KR" sz="1300" b="1" u="none" strike="noStrike" cap="none" dirty="0" err="1"/>
                        <a:t>title</a:t>
                      </a:r>
                      <a:endParaRPr sz="1300" dirty="0"/>
                    </a:p>
                  </a:txBody>
                  <a:tcPr marL="43975" marR="43975" marT="20291" marB="20291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 dirty="0"/>
                        <a:t>설명</a:t>
                      </a:r>
                      <a:endParaRPr sz="1300" dirty="0"/>
                    </a:p>
                  </a:txBody>
                  <a:tcPr marL="43975" marR="43975" marT="20291" marB="20291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 dirty="0"/>
                        <a:t>비고, 관계</a:t>
                      </a:r>
                      <a:r>
                        <a:rPr lang="en-US" altLang="ko-KR" sz="1300" b="1" u="none" strike="noStrike" cap="none" dirty="0"/>
                        <a:t> </a:t>
                      </a:r>
                      <a:r>
                        <a:rPr lang="ko-KR" sz="1300" b="1" u="none" strike="noStrike" cap="none" dirty="0"/>
                        <a:t>화면</a:t>
                      </a:r>
                      <a:r>
                        <a:rPr lang="en-US" altLang="ko-KR" sz="1300" b="1" u="none" strike="noStrike" cap="none" dirty="0"/>
                        <a:t> </a:t>
                      </a:r>
                      <a:r>
                        <a:rPr lang="ko-KR" sz="1300" b="1" u="none" strike="noStrike" cap="none" dirty="0"/>
                        <a:t>ID</a:t>
                      </a:r>
                      <a:endParaRPr sz="1300" dirty="0"/>
                    </a:p>
                  </a:txBody>
                  <a:tcPr marL="43975" marR="43975" marT="20291" marB="20291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440">
                <a:tc>
                  <a:txBody>
                    <a:bodyPr/>
                    <a:lstStyle/>
                    <a:p>
                      <a:r>
                        <a:rPr lang="ko-KR" altLang="en-US" sz="1300" b="1" dirty="0"/>
                        <a:t>인증</a:t>
                      </a:r>
                      <a:r>
                        <a:rPr lang="en-US" altLang="ko-KR" sz="1300" b="1" dirty="0"/>
                        <a:t>/</a:t>
                      </a:r>
                      <a:r>
                        <a:rPr lang="ko-KR" altLang="en-US" sz="1300" b="1" dirty="0"/>
                        <a:t>계정</a:t>
                      </a:r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로그인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UI-M-1001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로그인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보호자 이메일</a:t>
                      </a:r>
                      <a:r>
                        <a:rPr lang="en-US" altLang="ko-KR" sz="1300" dirty="0"/>
                        <a:t>/PW </a:t>
                      </a:r>
                      <a:r>
                        <a:rPr lang="ko-KR" altLang="en-US" sz="1300" dirty="0"/>
                        <a:t>로그인 및 생체 인증 제공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회원가입</a:t>
                      </a:r>
                      <a:r>
                        <a:rPr lang="en-US" altLang="ko-KR" sz="1300" dirty="0"/>
                        <a:t>(UI-M-1100) </a:t>
                      </a:r>
                      <a:r>
                        <a:rPr lang="ko-KR" altLang="en-US" sz="1300" dirty="0"/>
                        <a:t>이동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440">
                <a:tc>
                  <a:txBody>
                    <a:bodyPr/>
                    <a:lstStyle/>
                    <a:p>
                      <a:endParaRPr lang="ko-KR" altLang="en-US" sz="130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회원가입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UI-M-1100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회원가입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보호자 정보 입력 및 </a:t>
                      </a:r>
                      <a:r>
                        <a:rPr lang="ko-KR" altLang="en-US" sz="1300" b="1" dirty="0"/>
                        <a:t>로봇 시리얼 번호</a:t>
                      </a:r>
                      <a:r>
                        <a:rPr lang="ko-KR" altLang="en-US" sz="1300" dirty="0"/>
                        <a:t> 등록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완료 후 메인</a:t>
                      </a:r>
                      <a:r>
                        <a:rPr lang="en-US" altLang="ko-KR" sz="1300" dirty="0"/>
                        <a:t>(UI-M-2000) </a:t>
                      </a:r>
                      <a:r>
                        <a:rPr lang="ko-KR" altLang="en-US" sz="1300" dirty="0"/>
                        <a:t>이동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070626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203201" y="165885"/>
            <a:ext cx="90000" cy="39941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6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18DB3-20B7-4BB4-BC9E-01905501CDCD}"/>
              </a:ext>
            </a:extLst>
          </p:cNvPr>
          <p:cNvSpPr txBox="1"/>
          <p:nvPr/>
        </p:nvSpPr>
        <p:spPr>
          <a:xfrm>
            <a:off x="293201" y="134760"/>
            <a:ext cx="1968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+mj-ea"/>
                <a:ea typeface="+mj-ea"/>
              </a:rPr>
              <a:t>스크린 목록</a:t>
            </a:r>
            <a:endParaRPr lang="en-US" altLang="ko-KR" sz="2400" b="1" dirty="0">
              <a:latin typeface="+mj-ea"/>
              <a:ea typeface="+mj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9609A5-E570-4F4C-80E5-73486B899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606163"/>
              </p:ext>
            </p:extLst>
          </p:nvPr>
        </p:nvGraphicFramePr>
        <p:xfrm>
          <a:off x="203201" y="1872692"/>
          <a:ext cx="10901866" cy="18578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7456">
                  <a:extLst>
                    <a:ext uri="{9D8B030D-6E8A-4147-A177-3AD203B41FA5}">
                      <a16:colId xmlns:a16="http://schemas.microsoft.com/office/drawing/2014/main" val="155581359"/>
                    </a:ext>
                  </a:extLst>
                </a:gridCol>
                <a:gridCol w="1481898">
                  <a:extLst>
                    <a:ext uri="{9D8B030D-6E8A-4147-A177-3AD203B41FA5}">
                      <a16:colId xmlns:a16="http://schemas.microsoft.com/office/drawing/2014/main" val="3023046286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3620121003"/>
                    </a:ext>
                  </a:extLst>
                </a:gridCol>
                <a:gridCol w="1680493">
                  <a:extLst>
                    <a:ext uri="{9D8B030D-6E8A-4147-A177-3AD203B41FA5}">
                      <a16:colId xmlns:a16="http://schemas.microsoft.com/office/drawing/2014/main" val="1220733888"/>
                    </a:ext>
                  </a:extLst>
                </a:gridCol>
                <a:gridCol w="3393460">
                  <a:extLst>
                    <a:ext uri="{9D8B030D-6E8A-4147-A177-3AD203B41FA5}">
                      <a16:colId xmlns:a16="http://schemas.microsoft.com/office/drawing/2014/main" val="3522855476"/>
                    </a:ext>
                  </a:extLst>
                </a:gridCol>
                <a:gridCol w="2028500">
                  <a:extLst>
                    <a:ext uri="{9D8B030D-6E8A-4147-A177-3AD203B41FA5}">
                      <a16:colId xmlns:a16="http://schemas.microsoft.com/office/drawing/2014/main" val="3065096587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r>
                        <a:rPr lang="en-US" altLang="ko-KR" sz="1300" b="1" dirty="0"/>
                        <a:t>HW</a:t>
                      </a:r>
                      <a:r>
                        <a:rPr lang="ko-KR" altLang="en-US" sz="1300" b="1" dirty="0"/>
                        <a:t> 디스플레이</a:t>
                      </a:r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메인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UI-D-1000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디스플레이 홈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어르신 인사말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오늘 일정 리스트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음성 명령 가이드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949508"/>
                  </a:ext>
                </a:extLst>
              </a:tr>
              <a:tr h="478440"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일정 확인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UI-D-1100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일정 확인 </a:t>
                      </a:r>
                      <a:r>
                        <a:rPr lang="ko-KR" altLang="en-US" sz="1300" dirty="0" err="1"/>
                        <a:t>모달</a:t>
                      </a:r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약 복용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식사 등 개별 일정에 대한 큰 화면 알림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확인 시 </a:t>
                      </a:r>
                      <a:r>
                        <a:rPr lang="en-US" altLang="ko-KR" sz="1300" dirty="0"/>
                        <a:t>UI-D-1000 </a:t>
                      </a:r>
                      <a:r>
                        <a:rPr lang="ko-KR" altLang="en-US" sz="1300" dirty="0"/>
                        <a:t>상태 업데이트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825468"/>
                  </a:ext>
                </a:extLst>
              </a:tr>
              <a:tr h="415820">
                <a:tc>
                  <a:txBody>
                    <a:bodyPr/>
                    <a:lstStyle/>
                    <a:p>
                      <a:endParaRPr lang="ko-KR" altLang="en-US" sz="130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화상 통화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UI-D-1200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영상 통화 수신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보호자와의 영상 통화 연결 화면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273929"/>
                  </a:ext>
                </a:extLst>
              </a:tr>
              <a:tr h="478440">
                <a:tc>
                  <a:txBody>
                    <a:bodyPr/>
                    <a:lstStyle/>
                    <a:p>
                      <a:endParaRPr lang="ko-KR" altLang="en-US" sz="130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긴급 상황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UI-D-1300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낙상 경고 화면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낙상 감지 시 빨간색 경고 및 </a:t>
                      </a:r>
                      <a:r>
                        <a:rPr lang="en-US" altLang="ko-KR" sz="1300"/>
                        <a:t>119 </a:t>
                      </a:r>
                      <a:r>
                        <a:rPr lang="ko-KR" altLang="en-US" sz="1300"/>
                        <a:t>신고 카운트다운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96614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DB6EE38-3DAC-48F5-9238-45C34A458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340917"/>
              </p:ext>
            </p:extLst>
          </p:nvPr>
        </p:nvGraphicFramePr>
        <p:xfrm>
          <a:off x="203201" y="3686323"/>
          <a:ext cx="10901866" cy="29135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7456">
                  <a:extLst>
                    <a:ext uri="{9D8B030D-6E8A-4147-A177-3AD203B41FA5}">
                      <a16:colId xmlns:a16="http://schemas.microsoft.com/office/drawing/2014/main" val="1032340755"/>
                    </a:ext>
                  </a:extLst>
                </a:gridCol>
                <a:gridCol w="1481898">
                  <a:extLst>
                    <a:ext uri="{9D8B030D-6E8A-4147-A177-3AD203B41FA5}">
                      <a16:colId xmlns:a16="http://schemas.microsoft.com/office/drawing/2014/main" val="205326890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2782966670"/>
                    </a:ext>
                  </a:extLst>
                </a:gridCol>
                <a:gridCol w="1680493">
                  <a:extLst>
                    <a:ext uri="{9D8B030D-6E8A-4147-A177-3AD203B41FA5}">
                      <a16:colId xmlns:a16="http://schemas.microsoft.com/office/drawing/2014/main" val="714723863"/>
                    </a:ext>
                  </a:extLst>
                </a:gridCol>
                <a:gridCol w="3393460">
                  <a:extLst>
                    <a:ext uri="{9D8B030D-6E8A-4147-A177-3AD203B41FA5}">
                      <a16:colId xmlns:a16="http://schemas.microsoft.com/office/drawing/2014/main" val="3005798846"/>
                    </a:ext>
                  </a:extLst>
                </a:gridCol>
                <a:gridCol w="2028500">
                  <a:extLst>
                    <a:ext uri="{9D8B030D-6E8A-4147-A177-3AD203B41FA5}">
                      <a16:colId xmlns:a16="http://schemas.microsoft.com/office/drawing/2014/main" val="4055723624"/>
                    </a:ext>
                  </a:extLst>
                </a:gridCol>
              </a:tblGrid>
              <a:tr h="478440">
                <a:tc>
                  <a:txBody>
                    <a:bodyPr/>
                    <a:lstStyle/>
                    <a:p>
                      <a:r>
                        <a:rPr lang="ko-KR" altLang="en-US" sz="1300" b="1" dirty="0"/>
                        <a:t>보호자 앱</a:t>
                      </a:r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 err="1"/>
                        <a:t>메인화면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홈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UI-M-2000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앱 홈 화면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어르신 상태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오늘의 주요 일정 요약 표시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300"/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892813"/>
                  </a:ext>
                </a:extLst>
              </a:tr>
              <a:tr h="454465"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일정 관리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UI-M-2100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원격 일정 관리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어르신 일정 추가</a:t>
                      </a:r>
                      <a:r>
                        <a:rPr lang="en-US" altLang="ko-KR" sz="1300" dirty="0"/>
                        <a:t>/</a:t>
                      </a:r>
                      <a:r>
                        <a:rPr lang="ko-KR" altLang="en-US" sz="1300" dirty="0"/>
                        <a:t>수정</a:t>
                      </a:r>
                      <a:r>
                        <a:rPr lang="en-US" altLang="ko-KR" sz="1300" dirty="0"/>
                        <a:t>/</a:t>
                      </a:r>
                      <a:r>
                        <a:rPr lang="ko-KR" altLang="en-US" sz="1300" dirty="0"/>
                        <a:t>삭제 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주간 반복 설정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로봇 디스플레이와 동기화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039070"/>
                  </a:ext>
                </a:extLst>
              </a:tr>
              <a:tr h="485052">
                <a:tc>
                  <a:txBody>
                    <a:bodyPr/>
                    <a:lstStyle/>
                    <a:p>
                      <a:endParaRPr lang="ko-KR" altLang="en-US" sz="130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기기 모드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UI-M-2200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기기 모드 조회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취침</a:t>
                      </a:r>
                      <a:r>
                        <a:rPr lang="en-US" altLang="ko-KR" sz="1300" dirty="0"/>
                        <a:t>/</a:t>
                      </a:r>
                      <a:r>
                        <a:rPr lang="ko-KR" altLang="en-US" sz="1300" dirty="0"/>
                        <a:t>순찰</a:t>
                      </a:r>
                      <a:r>
                        <a:rPr lang="en-US" altLang="ko-KR" sz="1300" dirty="0"/>
                        <a:t>/</a:t>
                      </a:r>
                      <a:r>
                        <a:rPr lang="ko-KR" altLang="en-US" sz="1300" dirty="0"/>
                        <a:t>주행 모드 전환 및 로봇 위치 확인</a:t>
                      </a:r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918993"/>
                  </a:ext>
                </a:extLst>
              </a:tr>
              <a:tr h="478440">
                <a:tc>
                  <a:txBody>
                    <a:bodyPr/>
                    <a:lstStyle/>
                    <a:p>
                      <a:endParaRPr lang="ko-KR" altLang="en-US" sz="130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스냅샷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UI-M-2300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사고 스냅샷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낙상 감지 시 임시 저장된 사진 리스트 </a:t>
                      </a:r>
                      <a:r>
                        <a:rPr lang="en-US" altLang="ko-KR" sz="1300" dirty="0"/>
                        <a:t>(24h </a:t>
                      </a:r>
                      <a:r>
                        <a:rPr lang="ko-KR" altLang="en-US" sz="1300" dirty="0"/>
                        <a:t>후 삭제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화상통화</a:t>
                      </a:r>
                      <a:r>
                        <a:rPr lang="en-US" altLang="ko-KR" sz="1300"/>
                        <a:t>(UI-M-2400)</a:t>
                      </a:r>
                      <a:r>
                        <a:rPr lang="ko-KR" altLang="en-US" sz="1300"/>
                        <a:t>로 연결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64717"/>
                  </a:ext>
                </a:extLst>
              </a:tr>
              <a:tr h="469441"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화상 통화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UI-M-2400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실시간 </a:t>
                      </a:r>
                      <a:r>
                        <a:rPr lang="en-US" sz="1300" dirty="0"/>
                        <a:t>Live View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로봇 카메라를 통한 실시간 영상 모니터링 및 통화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30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159179"/>
                  </a:ext>
                </a:extLst>
              </a:tr>
              <a:tr h="508087"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활동 리포트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UI-M-2500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사용자 행동 로그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 err="1"/>
                        <a:t>일자별</a:t>
                      </a:r>
                      <a:r>
                        <a:rPr lang="ko-KR" altLang="en-US" sz="1300" dirty="0"/>
                        <a:t> 낙상 사고 기록 및 일정 수행 로그 현황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300" dirty="0"/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5701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BA3E57-7456-48B9-8ABB-6EA728575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80" y="1783649"/>
            <a:ext cx="6800229" cy="426423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2007685182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Page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title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디스플레이 홈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UI-D-1000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Google Shape;298;p30"/>
          <p:cNvSpPr/>
          <p:nvPr/>
        </p:nvSpPr>
        <p:spPr>
          <a:xfrm>
            <a:off x="377010" y="2099908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407580" y="283502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302;p30"/>
          <p:cNvSpPr/>
          <p:nvPr/>
        </p:nvSpPr>
        <p:spPr>
          <a:xfrm>
            <a:off x="4812857" y="196380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302;p30"/>
          <p:cNvSpPr/>
          <p:nvPr/>
        </p:nvSpPr>
        <p:spPr>
          <a:xfrm>
            <a:off x="2710913" y="405929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298;p30"/>
          <p:cNvSpPr/>
          <p:nvPr/>
        </p:nvSpPr>
        <p:spPr>
          <a:xfrm>
            <a:off x="2540963" y="207071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298;p30">
            <a:extLst>
              <a:ext uri="{FF2B5EF4-FFF2-40B4-BE49-F238E27FC236}">
                <a16:creationId xmlns:a16="http://schemas.microsoft.com/office/drawing/2014/main" id="{FDD4D028-2AFB-4BB5-9FD7-A2A161FDE591}"/>
              </a:ext>
            </a:extLst>
          </p:cNvPr>
          <p:cNvSpPr/>
          <p:nvPr/>
        </p:nvSpPr>
        <p:spPr>
          <a:xfrm>
            <a:off x="7725485" y="178965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7B7A7-1963-4D81-97FB-5250ADACCFB1}"/>
              </a:ext>
            </a:extLst>
          </p:cNvPr>
          <p:cNvSpPr txBox="1"/>
          <p:nvPr/>
        </p:nvSpPr>
        <p:spPr>
          <a:xfrm>
            <a:off x="8134350" y="1783649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개인화된 환영 문구 표시</a:t>
            </a:r>
          </a:p>
        </p:txBody>
      </p:sp>
      <p:sp>
        <p:nvSpPr>
          <p:cNvPr id="34" name="Google Shape;298;p30">
            <a:extLst>
              <a:ext uri="{FF2B5EF4-FFF2-40B4-BE49-F238E27FC236}">
                <a16:creationId xmlns:a16="http://schemas.microsoft.com/office/drawing/2014/main" id="{BBB450B8-C612-422A-85F2-14D97A0E60B6}"/>
              </a:ext>
            </a:extLst>
          </p:cNvPr>
          <p:cNvSpPr/>
          <p:nvPr/>
        </p:nvSpPr>
        <p:spPr>
          <a:xfrm>
            <a:off x="7726195" y="2306074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42DA54-87ED-4DC5-9DE0-A728B25BB12A}"/>
              </a:ext>
            </a:extLst>
          </p:cNvPr>
          <p:cNvSpPr txBox="1"/>
          <p:nvPr/>
        </p:nvSpPr>
        <p:spPr>
          <a:xfrm>
            <a:off x="8134350" y="2337350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LLM </a:t>
            </a:r>
            <a:r>
              <a:rPr lang="ko-KR" altLang="en-US" dirty="0"/>
              <a:t>캐릭터화</a:t>
            </a:r>
          </a:p>
        </p:txBody>
      </p:sp>
      <p:sp>
        <p:nvSpPr>
          <p:cNvPr id="36" name="Google Shape;298;p30">
            <a:extLst>
              <a:ext uri="{FF2B5EF4-FFF2-40B4-BE49-F238E27FC236}">
                <a16:creationId xmlns:a16="http://schemas.microsoft.com/office/drawing/2014/main" id="{8D78DDAB-FA85-49DB-8A9E-901AC0DA89D5}"/>
              </a:ext>
            </a:extLst>
          </p:cNvPr>
          <p:cNvSpPr/>
          <p:nvPr/>
        </p:nvSpPr>
        <p:spPr>
          <a:xfrm>
            <a:off x="7725485" y="2823643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48E6C4-D7A4-4AD5-8B19-DCE68AECEBEB}"/>
              </a:ext>
            </a:extLst>
          </p:cNvPr>
          <p:cNvSpPr txBox="1"/>
          <p:nvPr/>
        </p:nvSpPr>
        <p:spPr>
          <a:xfrm>
            <a:off x="8131270" y="2827908"/>
            <a:ext cx="298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시간 순 오늘의 일정 리스트</a:t>
            </a:r>
          </a:p>
        </p:txBody>
      </p:sp>
      <p:sp>
        <p:nvSpPr>
          <p:cNvPr id="38" name="Google Shape;298;p30">
            <a:extLst>
              <a:ext uri="{FF2B5EF4-FFF2-40B4-BE49-F238E27FC236}">
                <a16:creationId xmlns:a16="http://schemas.microsoft.com/office/drawing/2014/main" id="{B1605141-A72B-4D07-A481-441242727D4F}"/>
              </a:ext>
            </a:extLst>
          </p:cNvPr>
          <p:cNvSpPr/>
          <p:nvPr/>
        </p:nvSpPr>
        <p:spPr>
          <a:xfrm>
            <a:off x="7725485" y="3322909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F2C428-F2F4-4264-80E0-32F312DA092A}"/>
              </a:ext>
            </a:extLst>
          </p:cNvPr>
          <p:cNvSpPr txBox="1"/>
          <p:nvPr/>
        </p:nvSpPr>
        <p:spPr>
          <a:xfrm>
            <a:off x="8131270" y="3332534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일정 </a:t>
            </a:r>
            <a:r>
              <a:rPr lang="ko-KR" altLang="en-US" dirty="0" err="1"/>
              <a:t>등록시</a:t>
            </a:r>
            <a:r>
              <a:rPr lang="ko-KR" altLang="en-US" dirty="0"/>
              <a:t> 캘린더로 표시 가능</a:t>
            </a:r>
          </a:p>
        </p:txBody>
      </p:sp>
      <p:sp>
        <p:nvSpPr>
          <p:cNvPr id="40" name="Google Shape;298;p30">
            <a:extLst>
              <a:ext uri="{FF2B5EF4-FFF2-40B4-BE49-F238E27FC236}">
                <a16:creationId xmlns:a16="http://schemas.microsoft.com/office/drawing/2014/main" id="{AFD7E256-4A77-411B-BC65-EEF083C59C2A}"/>
              </a:ext>
            </a:extLst>
          </p:cNvPr>
          <p:cNvSpPr/>
          <p:nvPr/>
        </p:nvSpPr>
        <p:spPr>
          <a:xfrm>
            <a:off x="7725485" y="3857218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81C706-BDF6-4C17-B421-EAB6D3E8FC15}"/>
              </a:ext>
            </a:extLst>
          </p:cNvPr>
          <p:cNvSpPr txBox="1"/>
          <p:nvPr/>
        </p:nvSpPr>
        <p:spPr>
          <a:xfrm>
            <a:off x="8168466" y="3837161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LLM </a:t>
            </a:r>
            <a:r>
              <a:rPr lang="ko-KR" altLang="en-US" dirty="0"/>
              <a:t>음성 명령 사이드 </a:t>
            </a:r>
            <a:r>
              <a:rPr lang="en-US" altLang="ko-KR" dirty="0"/>
              <a:t>(</a:t>
            </a:r>
            <a:r>
              <a:rPr lang="ko-KR" altLang="en-US" dirty="0"/>
              <a:t>시니어 타겟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54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oogle Shape;375;p38"/>
          <p:cNvGraphicFramePr/>
          <p:nvPr>
            <p:extLst>
              <p:ext uri="{D42A27DB-BD31-4B8C-83A1-F6EECF244321}">
                <p14:modId xmlns:p14="http://schemas.microsoft.com/office/powerpoint/2010/main" val="124737522"/>
              </p:ext>
            </p:extLst>
          </p:nvPr>
        </p:nvGraphicFramePr>
        <p:xfrm>
          <a:off x="753939" y="1909924"/>
          <a:ext cx="10554575" cy="15729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27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987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Given#1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일정 등록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일정 클릭 시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상세 정보 </a:t>
                      </a:r>
                      <a:r>
                        <a:rPr lang="ko-KR" altLang="en-US" dirty="0" err="1"/>
                        <a:t>모달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(UI-D-1100) </a:t>
                      </a:r>
                      <a:r>
                        <a:rPr lang="ko-KR" altLang="en-US" dirty="0"/>
                        <a:t>노출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9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2</a:t>
                      </a:r>
                      <a:endParaRPr sz="1100"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일정 등록</a:t>
                      </a:r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음성 인식 시</a:t>
                      </a:r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하단 바가 </a:t>
                      </a:r>
                      <a:r>
                        <a:rPr lang="en-US" altLang="ko-KR" dirty="0"/>
                        <a:t>‘</a:t>
                      </a:r>
                      <a:r>
                        <a:rPr lang="ko-KR" altLang="en-US" dirty="0"/>
                        <a:t>듣고 있어요</a:t>
                      </a:r>
                      <a:r>
                        <a:rPr lang="en-US" altLang="ko-KR" dirty="0"/>
                        <a:t>’ </a:t>
                      </a:r>
                      <a:r>
                        <a:rPr lang="ko-KR" altLang="en-US" dirty="0"/>
                        <a:t>상태 애니메이션으로 변경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323341"/>
                  </a:ext>
                </a:extLst>
              </a:tr>
            </a:tbl>
          </a:graphicData>
        </a:graphic>
      </p:graphicFrame>
      <p:sp>
        <p:nvSpPr>
          <p:cNvPr id="311" name="Google Shape;311;p31"/>
          <p:cNvSpPr/>
          <p:nvPr/>
        </p:nvSpPr>
        <p:spPr>
          <a:xfrm>
            <a:off x="1731963" y="18176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3511550" y="17907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" name="Google Shape;313;p31"/>
          <p:cNvGraphicFramePr/>
          <p:nvPr>
            <p:extLst>
              <p:ext uri="{D42A27DB-BD31-4B8C-83A1-F6EECF244321}">
                <p14:modId xmlns:p14="http://schemas.microsoft.com/office/powerpoint/2010/main" val="1314932201"/>
              </p:ext>
            </p:extLst>
          </p:nvPr>
        </p:nvGraphicFramePr>
        <p:xfrm>
          <a:off x="358140" y="5328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디스플레이 홈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UI-D-1000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Google Shape;314;p31"/>
          <p:cNvSpPr/>
          <p:nvPr/>
        </p:nvSpPr>
        <p:spPr>
          <a:xfrm>
            <a:off x="1731963" y="18176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3511550" y="17907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76;p38"/>
          <p:cNvSpPr txBox="1"/>
          <p:nvPr/>
        </p:nvSpPr>
        <p:spPr>
          <a:xfrm>
            <a:off x="358140" y="1356153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7133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1B10D8-0D8D-4C56-B02C-548BBF50F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51" y="1783649"/>
            <a:ext cx="6800229" cy="426423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2218466633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Page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title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일정 확인 </a:t>
                      </a:r>
                      <a:r>
                        <a:rPr lang="ko-KR" altLang="en-US" sz="1400" dirty="0" err="1"/>
                        <a:t>모달</a:t>
                      </a:r>
                      <a:endParaRPr lang="ko-KR" altLang="en-US"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UI-D-1100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</a:t>
                      </a:r>
                      <a:r>
                        <a:rPr lang="en-US" altLang="ko-KR" sz="1400" dirty="0"/>
                        <a:t>&gt;SCHEDULE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Google Shape;298;p30">
            <a:extLst>
              <a:ext uri="{FF2B5EF4-FFF2-40B4-BE49-F238E27FC236}">
                <a16:creationId xmlns:a16="http://schemas.microsoft.com/office/drawing/2014/main" id="{FDD4D028-2AFB-4BB5-9FD7-A2A161FDE591}"/>
              </a:ext>
            </a:extLst>
          </p:cNvPr>
          <p:cNvSpPr/>
          <p:nvPr/>
        </p:nvSpPr>
        <p:spPr>
          <a:xfrm>
            <a:off x="7725485" y="178965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7B7A7-1963-4D81-97FB-5250ADACCFB1}"/>
              </a:ext>
            </a:extLst>
          </p:cNvPr>
          <p:cNvSpPr txBox="1"/>
          <p:nvPr/>
        </p:nvSpPr>
        <p:spPr>
          <a:xfrm>
            <a:off x="8134350" y="1783649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일정 등록 </a:t>
            </a:r>
            <a:r>
              <a:rPr lang="ko-KR" altLang="en-US" dirty="0" err="1"/>
              <a:t>모달</a:t>
            </a:r>
            <a:endParaRPr lang="ko-KR" altLang="en-US" dirty="0"/>
          </a:p>
        </p:txBody>
      </p:sp>
      <p:sp>
        <p:nvSpPr>
          <p:cNvPr id="34" name="Google Shape;298;p30">
            <a:extLst>
              <a:ext uri="{FF2B5EF4-FFF2-40B4-BE49-F238E27FC236}">
                <a16:creationId xmlns:a16="http://schemas.microsoft.com/office/drawing/2014/main" id="{BBB450B8-C612-422A-85F2-14D97A0E60B6}"/>
              </a:ext>
            </a:extLst>
          </p:cNvPr>
          <p:cNvSpPr/>
          <p:nvPr/>
        </p:nvSpPr>
        <p:spPr>
          <a:xfrm>
            <a:off x="2367386" y="220838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298;p30">
            <a:extLst>
              <a:ext uri="{FF2B5EF4-FFF2-40B4-BE49-F238E27FC236}">
                <a16:creationId xmlns:a16="http://schemas.microsoft.com/office/drawing/2014/main" id="{EDB8D3FC-7382-4C96-B1F0-E1CCDE042454}"/>
              </a:ext>
            </a:extLst>
          </p:cNvPr>
          <p:cNvSpPr/>
          <p:nvPr/>
        </p:nvSpPr>
        <p:spPr>
          <a:xfrm>
            <a:off x="7725485" y="2377993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298;p30">
            <a:extLst>
              <a:ext uri="{FF2B5EF4-FFF2-40B4-BE49-F238E27FC236}">
                <a16:creationId xmlns:a16="http://schemas.microsoft.com/office/drawing/2014/main" id="{10E3E6E1-011B-4F89-92B3-6F02516BA7AE}"/>
              </a:ext>
            </a:extLst>
          </p:cNvPr>
          <p:cNvSpPr/>
          <p:nvPr/>
        </p:nvSpPr>
        <p:spPr>
          <a:xfrm>
            <a:off x="7725485" y="322151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4EABA3-1061-4090-9B76-D4BA4BE624D0}"/>
              </a:ext>
            </a:extLst>
          </p:cNvPr>
          <p:cNvSpPr txBox="1"/>
          <p:nvPr/>
        </p:nvSpPr>
        <p:spPr>
          <a:xfrm>
            <a:off x="8134350" y="2367477"/>
            <a:ext cx="3569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약 복용</a:t>
            </a:r>
            <a:r>
              <a:rPr lang="en-US" altLang="ko-KR" dirty="0"/>
              <a:t>, </a:t>
            </a:r>
            <a:r>
              <a:rPr lang="ko-KR" altLang="en-US" dirty="0"/>
              <a:t>방문 시간 등 제목</a:t>
            </a:r>
            <a:r>
              <a:rPr lang="en-US" altLang="ko-KR" dirty="0"/>
              <a:t>, </a:t>
            </a:r>
            <a:r>
              <a:rPr lang="ko-KR" altLang="en-US" dirty="0"/>
              <a:t>시간</a:t>
            </a:r>
            <a:r>
              <a:rPr lang="en-US" altLang="ko-KR" dirty="0"/>
              <a:t>, </a:t>
            </a:r>
            <a:r>
              <a:rPr lang="ko-KR" altLang="en-US" dirty="0"/>
              <a:t>상세 내용 등 입력</a:t>
            </a:r>
            <a:endParaRPr lang="en-US" altLang="ko-KR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3BA724-A836-4B63-98C4-CC49829A949B}"/>
              </a:ext>
            </a:extLst>
          </p:cNvPr>
          <p:cNvSpPr txBox="1"/>
          <p:nvPr/>
        </p:nvSpPr>
        <p:spPr>
          <a:xfrm>
            <a:off x="8134349" y="3221515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새로운 일정을 등록하는 버튼</a:t>
            </a:r>
          </a:p>
        </p:txBody>
      </p:sp>
      <p:sp>
        <p:nvSpPr>
          <p:cNvPr id="31" name="Google Shape;298;p30">
            <a:extLst>
              <a:ext uri="{FF2B5EF4-FFF2-40B4-BE49-F238E27FC236}">
                <a16:creationId xmlns:a16="http://schemas.microsoft.com/office/drawing/2014/main" id="{87D1A6D7-D184-4C6B-AB6A-5E271114F79C}"/>
              </a:ext>
            </a:extLst>
          </p:cNvPr>
          <p:cNvSpPr/>
          <p:nvPr/>
        </p:nvSpPr>
        <p:spPr>
          <a:xfrm>
            <a:off x="2367386" y="5234610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298;p30">
            <a:extLst>
              <a:ext uri="{FF2B5EF4-FFF2-40B4-BE49-F238E27FC236}">
                <a16:creationId xmlns:a16="http://schemas.microsoft.com/office/drawing/2014/main" id="{8A341039-2451-41EB-B9F2-A12B54231EA3}"/>
              </a:ext>
            </a:extLst>
          </p:cNvPr>
          <p:cNvSpPr/>
          <p:nvPr/>
        </p:nvSpPr>
        <p:spPr>
          <a:xfrm>
            <a:off x="2367386" y="281193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483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oogle Shape;375;p38"/>
          <p:cNvGraphicFramePr/>
          <p:nvPr>
            <p:extLst>
              <p:ext uri="{D42A27DB-BD31-4B8C-83A1-F6EECF244321}">
                <p14:modId xmlns:p14="http://schemas.microsoft.com/office/powerpoint/2010/main" val="3656600850"/>
              </p:ext>
            </p:extLst>
          </p:nvPr>
        </p:nvGraphicFramePr>
        <p:xfrm>
          <a:off x="753939" y="1909924"/>
          <a:ext cx="10554575" cy="9939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27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987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No</a:t>
                      </a:r>
                      <a:endParaRPr lang="en-US"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/>
                        <a:t>Given#1</a:t>
                      </a:r>
                      <a:endParaRPr lang="en-US"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/>
                        <a:t>Given#2</a:t>
                      </a:r>
                      <a:endParaRPr lang="en-US"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/>
                        <a:t>When</a:t>
                      </a:r>
                      <a:endParaRPr lang="en-US"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/>
                        <a:t>Then</a:t>
                      </a:r>
                      <a:endParaRPr lang="en-US"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1</a:t>
                      </a:r>
                      <a:endParaRPr lang="ko-KR" altLang="en-US"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사용자가 시간 선택</a:t>
                      </a:r>
                      <a:endParaRPr lang="en-US"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스크롤로 분 단위 체크 가능</a:t>
                      </a:r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Google Shape;311;p31"/>
          <p:cNvSpPr/>
          <p:nvPr/>
        </p:nvSpPr>
        <p:spPr>
          <a:xfrm>
            <a:off x="1731963" y="18176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3511550" y="17907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" name="Google Shape;313;p31"/>
          <p:cNvGraphicFramePr/>
          <p:nvPr>
            <p:extLst>
              <p:ext uri="{D42A27DB-BD31-4B8C-83A1-F6EECF244321}">
                <p14:modId xmlns:p14="http://schemas.microsoft.com/office/powerpoint/2010/main" val="3479567818"/>
              </p:ext>
            </p:extLst>
          </p:nvPr>
        </p:nvGraphicFramePr>
        <p:xfrm>
          <a:off x="358140" y="5328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일정 확인 </a:t>
                      </a:r>
                      <a:r>
                        <a:rPr lang="ko-KR" altLang="en-US" sz="1400" dirty="0" err="1"/>
                        <a:t>모달</a:t>
                      </a:r>
                      <a:endParaRPr lang="ko-KR" altLang="en-US"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UI-D-1100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dirty="0"/>
                        <a:t>HOME&gt;SCHEDULE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Google Shape;314;p31"/>
          <p:cNvSpPr/>
          <p:nvPr/>
        </p:nvSpPr>
        <p:spPr>
          <a:xfrm>
            <a:off x="1731963" y="18176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3511550" y="17907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76;p38"/>
          <p:cNvSpPr txBox="1"/>
          <p:nvPr/>
        </p:nvSpPr>
        <p:spPr>
          <a:xfrm>
            <a:off x="358140" y="1356153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6986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BE3DEC5-F8E6-4D28-939D-C71A5F0C6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" y="1783649"/>
            <a:ext cx="6800229" cy="426423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2403424802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Page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title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영상 통화 수신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UI-D-1200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</a:t>
                      </a:r>
                      <a:r>
                        <a:rPr lang="en-US" altLang="ko-KR" sz="1400" dirty="0"/>
                        <a:t>&gt;VIDEO-CALL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Google Shape;298;p30">
            <a:extLst>
              <a:ext uri="{FF2B5EF4-FFF2-40B4-BE49-F238E27FC236}">
                <a16:creationId xmlns:a16="http://schemas.microsoft.com/office/drawing/2014/main" id="{FDD4D028-2AFB-4BB5-9FD7-A2A161FDE591}"/>
              </a:ext>
            </a:extLst>
          </p:cNvPr>
          <p:cNvSpPr/>
          <p:nvPr/>
        </p:nvSpPr>
        <p:spPr>
          <a:xfrm>
            <a:off x="7725485" y="178965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7B7A7-1963-4D81-97FB-5250ADACCFB1}"/>
              </a:ext>
            </a:extLst>
          </p:cNvPr>
          <p:cNvSpPr txBox="1"/>
          <p:nvPr/>
        </p:nvSpPr>
        <p:spPr>
          <a:xfrm>
            <a:off x="8134350" y="1783649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특정인에게 화상통화 송</a:t>
            </a:r>
            <a:r>
              <a:rPr lang="en-US" altLang="ko-KR" dirty="0"/>
              <a:t>/</a:t>
            </a:r>
            <a:r>
              <a:rPr lang="ko-KR" altLang="en-US" dirty="0"/>
              <a:t>수신</a:t>
            </a:r>
          </a:p>
        </p:txBody>
      </p:sp>
      <p:sp>
        <p:nvSpPr>
          <p:cNvPr id="34" name="Google Shape;298;p30">
            <a:extLst>
              <a:ext uri="{FF2B5EF4-FFF2-40B4-BE49-F238E27FC236}">
                <a16:creationId xmlns:a16="http://schemas.microsoft.com/office/drawing/2014/main" id="{BBB450B8-C612-422A-85F2-14D97A0E60B6}"/>
              </a:ext>
            </a:extLst>
          </p:cNvPr>
          <p:cNvSpPr/>
          <p:nvPr/>
        </p:nvSpPr>
        <p:spPr>
          <a:xfrm>
            <a:off x="2537336" y="3589634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298;p30">
            <a:extLst>
              <a:ext uri="{FF2B5EF4-FFF2-40B4-BE49-F238E27FC236}">
                <a16:creationId xmlns:a16="http://schemas.microsoft.com/office/drawing/2014/main" id="{EDB8D3FC-7382-4C96-B1F0-E1CCDE042454}"/>
              </a:ext>
            </a:extLst>
          </p:cNvPr>
          <p:cNvSpPr/>
          <p:nvPr/>
        </p:nvSpPr>
        <p:spPr>
          <a:xfrm>
            <a:off x="7725485" y="2377993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4EABA3-1061-4090-9B76-D4BA4BE624D0}"/>
              </a:ext>
            </a:extLst>
          </p:cNvPr>
          <p:cNvSpPr txBox="1"/>
          <p:nvPr/>
        </p:nvSpPr>
        <p:spPr>
          <a:xfrm>
            <a:off x="8134350" y="2367477"/>
            <a:ext cx="3569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마이크 볼륨</a:t>
            </a:r>
            <a:r>
              <a:rPr lang="en-US" altLang="ko-KR" dirty="0"/>
              <a:t>, </a:t>
            </a:r>
            <a:r>
              <a:rPr lang="ko-KR" altLang="en-US" dirty="0"/>
              <a:t>카메라 해상도 확인</a:t>
            </a:r>
            <a:endParaRPr lang="en-US" altLang="ko-KR" dirty="0"/>
          </a:p>
        </p:txBody>
      </p:sp>
      <p:sp>
        <p:nvSpPr>
          <p:cNvPr id="32" name="Google Shape;298;p30">
            <a:extLst>
              <a:ext uri="{FF2B5EF4-FFF2-40B4-BE49-F238E27FC236}">
                <a16:creationId xmlns:a16="http://schemas.microsoft.com/office/drawing/2014/main" id="{8A341039-2451-41EB-B9F2-A12B54231EA3}"/>
              </a:ext>
            </a:extLst>
          </p:cNvPr>
          <p:cNvSpPr/>
          <p:nvPr/>
        </p:nvSpPr>
        <p:spPr>
          <a:xfrm>
            <a:off x="995786" y="4055944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004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oogle Shape;375;p38"/>
          <p:cNvGraphicFramePr/>
          <p:nvPr>
            <p:extLst>
              <p:ext uri="{D42A27DB-BD31-4B8C-83A1-F6EECF244321}">
                <p14:modId xmlns:p14="http://schemas.microsoft.com/office/powerpoint/2010/main" val="1274242592"/>
              </p:ext>
            </p:extLst>
          </p:nvPr>
        </p:nvGraphicFramePr>
        <p:xfrm>
          <a:off x="753939" y="1909924"/>
          <a:ext cx="10554575" cy="9939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27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987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Given#1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사용자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보호자 간 화상통화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로딩 속도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싱크 속도 실시간 속도 유지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Google Shape;311;p31"/>
          <p:cNvSpPr/>
          <p:nvPr/>
        </p:nvSpPr>
        <p:spPr>
          <a:xfrm>
            <a:off x="1731963" y="18176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3511550" y="17907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" name="Google Shape;313;p31"/>
          <p:cNvGraphicFramePr/>
          <p:nvPr>
            <p:extLst>
              <p:ext uri="{D42A27DB-BD31-4B8C-83A1-F6EECF244321}">
                <p14:modId xmlns:p14="http://schemas.microsoft.com/office/powerpoint/2010/main" val="905720670"/>
              </p:ext>
            </p:extLst>
          </p:nvPr>
        </p:nvGraphicFramePr>
        <p:xfrm>
          <a:off x="358140" y="5328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영상 통화 수신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UI-D-1200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dirty="0"/>
                        <a:t>HOME&gt;VIDEO-CALL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Google Shape;314;p31"/>
          <p:cNvSpPr/>
          <p:nvPr/>
        </p:nvSpPr>
        <p:spPr>
          <a:xfrm>
            <a:off x="1731963" y="18176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3511550" y="17907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76;p38"/>
          <p:cNvSpPr txBox="1"/>
          <p:nvPr/>
        </p:nvSpPr>
        <p:spPr>
          <a:xfrm>
            <a:off x="358140" y="1356153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7173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CED88E-7D00-47E4-8976-E5DE14791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99" y="1783649"/>
            <a:ext cx="6793747" cy="4260167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908604106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Page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title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/>
                        <a:t>낙상 경고 화면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dirty="0"/>
                        <a:t>UI-D-1300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</a:t>
                      </a:r>
                      <a:r>
                        <a:rPr lang="en-US" altLang="ko-KR" sz="1400" dirty="0"/>
                        <a:t>&gt;EMERGENCY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Google Shape;298;p30">
            <a:extLst>
              <a:ext uri="{FF2B5EF4-FFF2-40B4-BE49-F238E27FC236}">
                <a16:creationId xmlns:a16="http://schemas.microsoft.com/office/drawing/2014/main" id="{FDD4D028-2AFB-4BB5-9FD7-A2A161FDE591}"/>
              </a:ext>
            </a:extLst>
          </p:cNvPr>
          <p:cNvSpPr/>
          <p:nvPr/>
        </p:nvSpPr>
        <p:spPr>
          <a:xfrm>
            <a:off x="7725485" y="178965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7B7A7-1963-4D81-97FB-5250ADACCFB1}"/>
              </a:ext>
            </a:extLst>
          </p:cNvPr>
          <p:cNvSpPr txBox="1"/>
          <p:nvPr/>
        </p:nvSpPr>
        <p:spPr>
          <a:xfrm>
            <a:off x="8134350" y="1783649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경고 알람 발생</a:t>
            </a:r>
          </a:p>
        </p:txBody>
      </p:sp>
      <p:sp>
        <p:nvSpPr>
          <p:cNvPr id="34" name="Google Shape;298;p30">
            <a:extLst>
              <a:ext uri="{FF2B5EF4-FFF2-40B4-BE49-F238E27FC236}">
                <a16:creationId xmlns:a16="http://schemas.microsoft.com/office/drawing/2014/main" id="{BBB450B8-C612-422A-85F2-14D97A0E60B6}"/>
              </a:ext>
            </a:extLst>
          </p:cNvPr>
          <p:cNvSpPr/>
          <p:nvPr/>
        </p:nvSpPr>
        <p:spPr>
          <a:xfrm>
            <a:off x="1224386" y="2726293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298;p30">
            <a:extLst>
              <a:ext uri="{FF2B5EF4-FFF2-40B4-BE49-F238E27FC236}">
                <a16:creationId xmlns:a16="http://schemas.microsoft.com/office/drawing/2014/main" id="{EDB8D3FC-7382-4C96-B1F0-E1CCDE042454}"/>
              </a:ext>
            </a:extLst>
          </p:cNvPr>
          <p:cNvSpPr/>
          <p:nvPr/>
        </p:nvSpPr>
        <p:spPr>
          <a:xfrm>
            <a:off x="7725485" y="2377993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298;p30">
            <a:extLst>
              <a:ext uri="{FF2B5EF4-FFF2-40B4-BE49-F238E27FC236}">
                <a16:creationId xmlns:a16="http://schemas.microsoft.com/office/drawing/2014/main" id="{10E3E6E1-011B-4F89-92B3-6F02516BA7AE}"/>
              </a:ext>
            </a:extLst>
          </p:cNvPr>
          <p:cNvSpPr/>
          <p:nvPr/>
        </p:nvSpPr>
        <p:spPr>
          <a:xfrm>
            <a:off x="7725485" y="296633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4EABA3-1061-4090-9B76-D4BA4BE624D0}"/>
              </a:ext>
            </a:extLst>
          </p:cNvPr>
          <p:cNvSpPr txBox="1"/>
          <p:nvPr/>
        </p:nvSpPr>
        <p:spPr>
          <a:xfrm>
            <a:off x="8134349" y="2367477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오탐지</a:t>
            </a:r>
            <a:r>
              <a:rPr lang="ko-KR" altLang="en-US" dirty="0"/>
              <a:t> 시 직접 상황 해제 가능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3BA724-A836-4B63-98C4-CC49829A949B}"/>
              </a:ext>
            </a:extLst>
          </p:cNvPr>
          <p:cNvSpPr txBox="1"/>
          <p:nvPr/>
        </p:nvSpPr>
        <p:spPr>
          <a:xfrm>
            <a:off x="8134349" y="2966331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기다리지 않고 바로 유관기관 신고</a:t>
            </a:r>
          </a:p>
        </p:txBody>
      </p:sp>
      <p:sp>
        <p:nvSpPr>
          <p:cNvPr id="31" name="Google Shape;298;p30">
            <a:extLst>
              <a:ext uri="{FF2B5EF4-FFF2-40B4-BE49-F238E27FC236}">
                <a16:creationId xmlns:a16="http://schemas.microsoft.com/office/drawing/2014/main" id="{87D1A6D7-D184-4C6B-AB6A-5E271114F79C}"/>
              </a:ext>
            </a:extLst>
          </p:cNvPr>
          <p:cNvSpPr/>
          <p:nvPr/>
        </p:nvSpPr>
        <p:spPr>
          <a:xfrm>
            <a:off x="3769329" y="4702982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298;p30">
            <a:extLst>
              <a:ext uri="{FF2B5EF4-FFF2-40B4-BE49-F238E27FC236}">
                <a16:creationId xmlns:a16="http://schemas.microsoft.com/office/drawing/2014/main" id="{8A341039-2451-41EB-B9F2-A12B54231EA3}"/>
              </a:ext>
            </a:extLst>
          </p:cNvPr>
          <p:cNvSpPr/>
          <p:nvPr/>
        </p:nvSpPr>
        <p:spPr>
          <a:xfrm>
            <a:off x="2793348" y="4702982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2611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oogle Shape;375;p38"/>
          <p:cNvGraphicFramePr/>
          <p:nvPr>
            <p:extLst>
              <p:ext uri="{D42A27DB-BD31-4B8C-83A1-F6EECF244321}">
                <p14:modId xmlns:p14="http://schemas.microsoft.com/office/powerpoint/2010/main" val="3232067795"/>
              </p:ext>
            </p:extLst>
          </p:nvPr>
        </p:nvGraphicFramePr>
        <p:xfrm>
          <a:off x="753939" y="1909924"/>
          <a:ext cx="10554575" cy="9939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27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8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987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Given#1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낙상 감지 시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긴급 </a:t>
                      </a:r>
                      <a:r>
                        <a:rPr lang="ko-KR" altLang="en-US" dirty="0" err="1"/>
                        <a:t>모달</a:t>
                      </a:r>
                      <a:r>
                        <a:rPr lang="ko-KR" altLang="en-US" dirty="0"/>
                        <a:t> 띄움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Google Shape;311;p31"/>
          <p:cNvSpPr/>
          <p:nvPr/>
        </p:nvSpPr>
        <p:spPr>
          <a:xfrm>
            <a:off x="1731963" y="18176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3511550" y="17907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" name="Google Shape;313;p31"/>
          <p:cNvGraphicFramePr/>
          <p:nvPr>
            <p:extLst>
              <p:ext uri="{D42A27DB-BD31-4B8C-83A1-F6EECF244321}">
                <p14:modId xmlns:p14="http://schemas.microsoft.com/office/powerpoint/2010/main" val="3478616478"/>
              </p:ext>
            </p:extLst>
          </p:nvPr>
        </p:nvGraphicFramePr>
        <p:xfrm>
          <a:off x="358140" y="5328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/>
                        <a:t>낙상 경고 화면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UI-D-1300</a:t>
                      </a:r>
                    </a:p>
                  </a:txBody>
                  <a:tcPr marL="84431" marR="84431" marT="42215" marB="4221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dirty="0"/>
                        <a:t>HOME&gt;EMERGENCY</a:t>
                      </a:r>
                    </a:p>
                  </a:txBody>
                  <a:tcPr marL="99050" marR="99050" marT="45725" marB="45725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Google Shape;314;p31"/>
          <p:cNvSpPr/>
          <p:nvPr/>
        </p:nvSpPr>
        <p:spPr>
          <a:xfrm>
            <a:off x="1731963" y="18176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3511550" y="17907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ko-K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76;p38"/>
          <p:cNvSpPr txBox="1"/>
          <p:nvPr/>
        </p:nvSpPr>
        <p:spPr>
          <a:xfrm>
            <a:off x="358140" y="1356153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71345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32776C-C18C-426F-922A-8ABF4B19C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00" y="1620701"/>
            <a:ext cx="2257158" cy="483326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2577490471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dirty="0">
                          <a:solidFill>
                            <a:schemeClr val="dk1"/>
                          </a:solidFill>
                        </a:rPr>
                        <a:t>로그인</a:t>
                      </a:r>
                      <a:endParaRPr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altLang="ko-KR" sz="1400" dirty="0"/>
                        <a:t>UI-M-1000</a:t>
                      </a:r>
                      <a:endParaRPr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</a:t>
                      </a:r>
                      <a:r>
                        <a:rPr lang="en-US" altLang="ko-KR" sz="1400" dirty="0"/>
                        <a:t>&gt;LOGIN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Google Shape;298;p30"/>
          <p:cNvSpPr/>
          <p:nvPr/>
        </p:nvSpPr>
        <p:spPr>
          <a:xfrm>
            <a:off x="3167634" y="16207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3557834" y="1620701"/>
            <a:ext cx="224331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이메일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비밀번호 입력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167634" y="225457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14784" y="2254576"/>
            <a:ext cx="228636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로그인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비밀번호 찾기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/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회원가입 버튼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98;p30"/>
          <p:cNvSpPr/>
          <p:nvPr/>
        </p:nvSpPr>
        <p:spPr>
          <a:xfrm>
            <a:off x="352887" y="2808544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352887" y="391885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34" name="Google Shape;375;p38">
            <a:extLst>
              <a:ext uri="{FF2B5EF4-FFF2-40B4-BE49-F238E27FC236}">
                <a16:creationId xmlns:a16="http://schemas.microsoft.com/office/drawing/2014/main" id="{3D536366-613C-4DB2-A6A2-F022794DF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699280"/>
              </p:ext>
            </p:extLst>
          </p:nvPr>
        </p:nvGraphicFramePr>
        <p:xfrm>
          <a:off x="6356220" y="2120044"/>
          <a:ext cx="5348097" cy="19888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98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r>
                        <a:rPr lang="en-US" altLang="ko-KR" sz="1400" b="1" dirty="0"/>
                        <a:t> 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/>
                        <a:t>Given#1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계정 있음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계정 정보 입력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로그인 성공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2</a:t>
                      </a:r>
                      <a:endParaRPr sz="1100"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dirty="0"/>
                        <a:t>계정 없음</a:t>
                      </a:r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로그인 시도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회원가입 페이지로 이동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323341"/>
                  </a:ext>
                </a:extLst>
              </a:tr>
            </a:tbl>
          </a:graphicData>
        </a:graphic>
      </p:graphicFrame>
      <p:sp>
        <p:nvSpPr>
          <p:cNvPr id="35" name="Google Shape;376;p38">
            <a:extLst>
              <a:ext uri="{FF2B5EF4-FFF2-40B4-BE49-F238E27FC236}">
                <a16:creationId xmlns:a16="http://schemas.microsoft.com/office/drawing/2014/main" id="{FD9B2B33-471E-494C-927D-82F3AFB2C42B}"/>
              </a:ext>
            </a:extLst>
          </p:cNvPr>
          <p:cNvSpPr txBox="1"/>
          <p:nvPr/>
        </p:nvSpPr>
        <p:spPr>
          <a:xfrm>
            <a:off x="6356219" y="1620701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21134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F1AA4C-6962-4A24-919A-22C5C0A7C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37" y="1620701"/>
            <a:ext cx="2257159" cy="4833261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553355283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dirty="0">
                          <a:solidFill>
                            <a:schemeClr val="dk1"/>
                          </a:solidFill>
                        </a:rPr>
                        <a:t>회원가입</a:t>
                      </a:r>
                      <a:endParaRPr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altLang="ko-KR" sz="1400" dirty="0"/>
                        <a:t>UI-M-1100</a:t>
                      </a:r>
                      <a:endParaRPr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HOME&gt;</a:t>
                      </a:r>
                      <a:r>
                        <a:rPr lang="en-US" altLang="ko-KR" sz="1400" dirty="0"/>
                        <a:t>SIGNUP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Google Shape;298;p30"/>
          <p:cNvSpPr/>
          <p:nvPr/>
        </p:nvSpPr>
        <p:spPr>
          <a:xfrm>
            <a:off x="3167634" y="16207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3557834" y="1620701"/>
            <a:ext cx="224331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기본 정보 입력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167634" y="225457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14784" y="2254576"/>
            <a:ext cx="2286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어르신 기기 시리얼 번호 매칭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3167634" y="2896968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298;p30"/>
          <p:cNvSpPr/>
          <p:nvPr/>
        </p:nvSpPr>
        <p:spPr>
          <a:xfrm>
            <a:off x="287158" y="236404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287158" y="415229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301;p30"/>
          <p:cNvSpPr txBox="1"/>
          <p:nvPr/>
        </p:nvSpPr>
        <p:spPr>
          <a:xfrm>
            <a:off x="3571459" y="2888451"/>
            <a:ext cx="177416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가입하기 버튼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302;p30"/>
          <p:cNvSpPr/>
          <p:nvPr/>
        </p:nvSpPr>
        <p:spPr>
          <a:xfrm>
            <a:off x="287158" y="5533482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376;p38">
            <a:extLst>
              <a:ext uri="{FF2B5EF4-FFF2-40B4-BE49-F238E27FC236}">
                <a16:creationId xmlns:a16="http://schemas.microsoft.com/office/drawing/2014/main" id="{FD9B2B33-471E-494C-927D-82F3AFB2C42B}"/>
              </a:ext>
            </a:extLst>
          </p:cNvPr>
          <p:cNvSpPr txBox="1"/>
          <p:nvPr/>
        </p:nvSpPr>
        <p:spPr>
          <a:xfrm>
            <a:off x="6356219" y="1620701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0" name="Google Shape;375;p38">
            <a:extLst>
              <a:ext uri="{FF2B5EF4-FFF2-40B4-BE49-F238E27FC236}">
                <a16:creationId xmlns:a16="http://schemas.microsoft.com/office/drawing/2014/main" id="{9EEB2EC8-59E6-4C46-9A00-E9434556B1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7081548"/>
              </p:ext>
            </p:extLst>
          </p:nvPr>
        </p:nvGraphicFramePr>
        <p:xfrm>
          <a:off x="6356220" y="2120044"/>
          <a:ext cx="5348097" cy="1202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98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r>
                        <a:rPr lang="en-US" altLang="ko-KR" sz="1400" b="1" dirty="0"/>
                        <a:t> 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/>
                        <a:t>Given#1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기기 시리얼 번호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시리얼 번호 일치여부 확인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회원가입 성공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126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94673AD-5A2A-44DD-9BC3-02AD27D45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87" y="1620701"/>
            <a:ext cx="2257158" cy="483326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3050239822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앱 홈 화면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UI-M-2000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Google Shape;298;p30"/>
          <p:cNvSpPr/>
          <p:nvPr/>
        </p:nvSpPr>
        <p:spPr>
          <a:xfrm>
            <a:off x="3167634" y="16207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3557834" y="1620701"/>
            <a:ext cx="22433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어르신의 현재 상태를 메인에서 확인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167634" y="225457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14784" y="2254576"/>
            <a:ext cx="228636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다른 화면으로 이동할 수 있는 버튼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ko-KR" alt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퀵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액션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3158334" y="300435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298;p30"/>
          <p:cNvSpPr/>
          <p:nvPr/>
        </p:nvSpPr>
        <p:spPr>
          <a:xfrm>
            <a:off x="352887" y="2080340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345637" y="3290474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301;p30"/>
          <p:cNvSpPr txBox="1"/>
          <p:nvPr/>
        </p:nvSpPr>
        <p:spPr>
          <a:xfrm>
            <a:off x="3562159" y="2995839"/>
            <a:ext cx="177416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어르신의 오늘의 일정 확인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Google Shape;302;p30"/>
          <p:cNvSpPr/>
          <p:nvPr/>
        </p:nvSpPr>
        <p:spPr>
          <a:xfrm>
            <a:off x="345637" y="398644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34" name="Google Shape;375;p38">
            <a:extLst>
              <a:ext uri="{FF2B5EF4-FFF2-40B4-BE49-F238E27FC236}">
                <a16:creationId xmlns:a16="http://schemas.microsoft.com/office/drawing/2014/main" id="{3D536366-613C-4DB2-A6A2-F022794DF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639621"/>
              </p:ext>
            </p:extLst>
          </p:nvPr>
        </p:nvGraphicFramePr>
        <p:xfrm>
          <a:off x="6356220" y="2120044"/>
          <a:ext cx="5348097" cy="212618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98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r>
                        <a:rPr lang="en-US" altLang="ko-KR" sz="1400" b="1" dirty="0"/>
                        <a:t> 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Given#1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메인 화면 진입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어르신의 상태를 한 눈에 확인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2</a:t>
                      </a:r>
                      <a:endParaRPr sz="1100"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 err="1"/>
                        <a:t>퀵</a:t>
                      </a:r>
                      <a:r>
                        <a:rPr lang="ko-KR" altLang="en-US" dirty="0"/>
                        <a:t> 액션 버튼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통화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기기 상태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알림 기록</a:t>
                      </a:r>
                      <a:r>
                        <a:rPr lang="en-US" altLang="ko-K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설정 페이지 간 자유로운 이동 보장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323341"/>
                  </a:ext>
                </a:extLst>
              </a:tr>
            </a:tbl>
          </a:graphicData>
        </a:graphic>
      </p:graphicFrame>
      <p:sp>
        <p:nvSpPr>
          <p:cNvPr id="35" name="Google Shape;376;p38">
            <a:extLst>
              <a:ext uri="{FF2B5EF4-FFF2-40B4-BE49-F238E27FC236}">
                <a16:creationId xmlns:a16="http://schemas.microsoft.com/office/drawing/2014/main" id="{FD9B2B33-471E-494C-927D-82F3AFB2C42B}"/>
              </a:ext>
            </a:extLst>
          </p:cNvPr>
          <p:cNvSpPr txBox="1"/>
          <p:nvPr/>
        </p:nvSpPr>
        <p:spPr>
          <a:xfrm>
            <a:off x="6356219" y="1620701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6833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EABD7E-9FF7-4AC8-AD9A-D5D3E94A1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00" y="1620701"/>
            <a:ext cx="2257158" cy="483326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213396198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dirty="0">
                          <a:solidFill>
                            <a:schemeClr val="dk1"/>
                          </a:solidFill>
                        </a:rPr>
                        <a:t>원격 일정 관리</a:t>
                      </a:r>
                      <a:endParaRPr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UI-M-2100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HOME&gt;</a:t>
                      </a:r>
                      <a:r>
                        <a:rPr lang="en-US" altLang="ko-KR" sz="1400" dirty="0"/>
                        <a:t>SCHEDULE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Google Shape;298;p30"/>
          <p:cNvSpPr/>
          <p:nvPr/>
        </p:nvSpPr>
        <p:spPr>
          <a:xfrm>
            <a:off x="3167634" y="16207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3557834" y="1620701"/>
            <a:ext cx="224331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오늘의 일정 목록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167634" y="225457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14784" y="2254576"/>
            <a:ext cx="2286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일정 등록 및 수정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/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삭제 버튼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98;p30"/>
          <p:cNvSpPr/>
          <p:nvPr/>
        </p:nvSpPr>
        <p:spPr>
          <a:xfrm>
            <a:off x="352887" y="2080340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317733" y="350844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376;p38">
            <a:extLst>
              <a:ext uri="{FF2B5EF4-FFF2-40B4-BE49-F238E27FC236}">
                <a16:creationId xmlns:a16="http://schemas.microsoft.com/office/drawing/2014/main" id="{FD9B2B33-471E-494C-927D-82F3AFB2C42B}"/>
              </a:ext>
            </a:extLst>
          </p:cNvPr>
          <p:cNvSpPr txBox="1"/>
          <p:nvPr/>
        </p:nvSpPr>
        <p:spPr>
          <a:xfrm>
            <a:off x="6356219" y="1620701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8" name="Google Shape;375;p38">
            <a:extLst>
              <a:ext uri="{FF2B5EF4-FFF2-40B4-BE49-F238E27FC236}">
                <a16:creationId xmlns:a16="http://schemas.microsoft.com/office/drawing/2014/main" id="{B309F215-1C22-42C1-8671-D89DF8E68F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437228"/>
              </p:ext>
            </p:extLst>
          </p:nvPr>
        </p:nvGraphicFramePr>
        <p:xfrm>
          <a:off x="6356220" y="2120044"/>
          <a:ext cx="5348097" cy="1202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98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r>
                        <a:rPr lang="en-US" altLang="ko-KR" sz="1400" b="1" dirty="0"/>
                        <a:t> 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/>
                        <a:t>Given#1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일정 </a:t>
                      </a:r>
                      <a:r>
                        <a:rPr lang="ko-KR" altLang="en-US" dirty="0" err="1"/>
                        <a:t>미입력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일정이 없는 경우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비어있다는</a:t>
                      </a:r>
                      <a:r>
                        <a:rPr lang="ko-KR" altLang="en-US" dirty="0"/>
                        <a:t> 메시지 출력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256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0E2791-F256-47B7-9979-15E66A83F0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00" y="1620701"/>
            <a:ext cx="2257158" cy="483326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3148329031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dirty="0">
                          <a:solidFill>
                            <a:schemeClr val="dk1"/>
                          </a:solidFill>
                        </a:rPr>
                        <a:t>기기 모드 조회</a:t>
                      </a:r>
                      <a:endParaRPr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UI-M-2200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HOME&gt;</a:t>
                      </a:r>
                      <a:r>
                        <a:rPr lang="en-US" altLang="ko-KR" sz="1400" dirty="0"/>
                        <a:t>STATUS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Google Shape;298;p30"/>
          <p:cNvSpPr/>
          <p:nvPr/>
        </p:nvSpPr>
        <p:spPr>
          <a:xfrm>
            <a:off x="3167634" y="16207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3557834" y="1620701"/>
            <a:ext cx="22433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기기 연결 상태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온라인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연결 끊김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)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확인 가능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167634" y="225457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14784" y="2254576"/>
            <a:ext cx="228636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기기 모드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(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취침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주행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 /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순찰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)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확인 가능</a:t>
            </a:r>
            <a:endParaRPr lang="en-US" altLang="ko-KR" sz="1200" kern="0" dirty="0">
              <a:solidFill>
                <a:srgbClr val="000000"/>
              </a:solidFill>
              <a:latin typeface="Arial"/>
              <a:ea typeface="Malgun Gothic"/>
              <a:cs typeface="Arial"/>
              <a:sym typeface="Arial"/>
            </a:endParaRPr>
          </a:p>
        </p:txBody>
      </p:sp>
      <p:sp>
        <p:nvSpPr>
          <p:cNvPr id="15" name="Google Shape;298;p30"/>
          <p:cNvSpPr/>
          <p:nvPr/>
        </p:nvSpPr>
        <p:spPr>
          <a:xfrm>
            <a:off x="355400" y="19690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328426" y="2697405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376;p38">
            <a:extLst>
              <a:ext uri="{FF2B5EF4-FFF2-40B4-BE49-F238E27FC236}">
                <a16:creationId xmlns:a16="http://schemas.microsoft.com/office/drawing/2014/main" id="{FD9B2B33-471E-494C-927D-82F3AFB2C42B}"/>
              </a:ext>
            </a:extLst>
          </p:cNvPr>
          <p:cNvSpPr txBox="1"/>
          <p:nvPr/>
        </p:nvSpPr>
        <p:spPr>
          <a:xfrm>
            <a:off x="6356219" y="1620701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8" name="Google Shape;375;p38">
            <a:extLst>
              <a:ext uri="{FF2B5EF4-FFF2-40B4-BE49-F238E27FC236}">
                <a16:creationId xmlns:a16="http://schemas.microsoft.com/office/drawing/2014/main" id="{1D08E67B-A257-46DB-A283-8A4961A41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063323"/>
              </p:ext>
            </p:extLst>
          </p:nvPr>
        </p:nvGraphicFramePr>
        <p:xfrm>
          <a:off x="6356220" y="2120044"/>
          <a:ext cx="5348097" cy="1202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98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r>
                        <a:rPr lang="en-US" altLang="ko-KR" sz="1400" b="1" dirty="0"/>
                        <a:t> 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/>
                        <a:t>Given#1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기기 모드 조회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기기에 문제가 생긴 경우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기기 모드 조회를 통해 스스로 판단 가능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054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94F9B2-060D-4D4F-98CE-77182AA87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00" y="1620701"/>
            <a:ext cx="2257158" cy="483326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3543337404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dirty="0">
                          <a:solidFill>
                            <a:schemeClr val="dk1"/>
                          </a:solidFill>
                        </a:rPr>
                        <a:t>사고 스냅샷</a:t>
                      </a:r>
                      <a:endParaRPr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UI-M-2300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HOME&gt;</a:t>
                      </a:r>
                      <a:r>
                        <a:rPr lang="en-US" altLang="ko-KR" sz="1400" dirty="0"/>
                        <a:t>EMERGENCY&gt;SNAPSHOT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Google Shape;298;p30"/>
          <p:cNvSpPr/>
          <p:nvPr/>
        </p:nvSpPr>
        <p:spPr>
          <a:xfrm>
            <a:off x="3167634" y="16207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3557834" y="1620701"/>
            <a:ext cx="224331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algun Gothic"/>
                <a:cs typeface="Arial"/>
                <a:sym typeface="Arial"/>
              </a:rPr>
              <a:t>낙상 사고에 대한 현재 상황 이미지 스냅샷 조회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167634" y="225457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14784" y="2254576"/>
            <a:ext cx="228636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지난 사고들에 대한 기록을 텍스트로 조회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시간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98;p30"/>
          <p:cNvSpPr/>
          <p:nvPr/>
        </p:nvSpPr>
        <p:spPr>
          <a:xfrm>
            <a:off x="352887" y="2080340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352887" y="4486637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376;p38">
            <a:extLst>
              <a:ext uri="{FF2B5EF4-FFF2-40B4-BE49-F238E27FC236}">
                <a16:creationId xmlns:a16="http://schemas.microsoft.com/office/drawing/2014/main" id="{FD9B2B33-471E-494C-927D-82F3AFB2C42B}"/>
              </a:ext>
            </a:extLst>
          </p:cNvPr>
          <p:cNvSpPr txBox="1"/>
          <p:nvPr/>
        </p:nvSpPr>
        <p:spPr>
          <a:xfrm>
            <a:off x="6356219" y="1620701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8" name="Google Shape;375;p38">
            <a:extLst>
              <a:ext uri="{FF2B5EF4-FFF2-40B4-BE49-F238E27FC236}">
                <a16:creationId xmlns:a16="http://schemas.microsoft.com/office/drawing/2014/main" id="{5541FDF6-A957-4493-9991-A77C2ACD4D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1436928"/>
              </p:ext>
            </p:extLst>
          </p:nvPr>
        </p:nvGraphicFramePr>
        <p:xfrm>
          <a:off x="6356220" y="2120044"/>
          <a:ext cx="5348097" cy="1202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98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r>
                        <a:rPr lang="en-US" altLang="ko-KR" sz="1400" b="1" dirty="0"/>
                        <a:t> 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/>
                        <a:t>Given#1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낙상 감지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낙상 감지된 경우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스냅샷 </a:t>
                      </a:r>
                      <a:r>
                        <a:rPr lang="en-US" altLang="ko-KR" dirty="0"/>
                        <a:t>DB </a:t>
                      </a:r>
                      <a:r>
                        <a:rPr lang="ko-KR" altLang="en-US" dirty="0"/>
                        <a:t>저장 없이 메모리로 제공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667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1DFA86-41CF-4B6E-8062-AA116AEFF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" y="1620701"/>
            <a:ext cx="2257158" cy="483326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2126231587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실시간 </a:t>
                      </a:r>
                      <a:r>
                        <a:rPr lang="en-US" altLang="ko-KR" sz="1400" dirty="0"/>
                        <a:t>Live View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UI-M-2400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HOME&gt;</a:t>
                      </a:r>
                      <a:r>
                        <a:rPr lang="en-US" altLang="ko-KR" dirty="0"/>
                        <a:t>VIDEO-CALL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Google Shape;298;p30"/>
          <p:cNvSpPr/>
          <p:nvPr/>
        </p:nvSpPr>
        <p:spPr>
          <a:xfrm>
            <a:off x="3167634" y="16207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3557834" y="1620701"/>
            <a:ext cx="224331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상대방 화면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167634" y="225457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14784" y="2254576"/>
            <a:ext cx="228636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내 화면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(PIP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모드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)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98;p30"/>
          <p:cNvSpPr/>
          <p:nvPr/>
        </p:nvSpPr>
        <p:spPr>
          <a:xfrm>
            <a:off x="230612" y="2121949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230612" y="428795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376;p38">
            <a:extLst>
              <a:ext uri="{FF2B5EF4-FFF2-40B4-BE49-F238E27FC236}">
                <a16:creationId xmlns:a16="http://schemas.microsoft.com/office/drawing/2014/main" id="{FD9B2B33-471E-494C-927D-82F3AFB2C42B}"/>
              </a:ext>
            </a:extLst>
          </p:cNvPr>
          <p:cNvSpPr txBox="1"/>
          <p:nvPr/>
        </p:nvSpPr>
        <p:spPr>
          <a:xfrm>
            <a:off x="6356219" y="1620701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298;p30">
            <a:extLst>
              <a:ext uri="{FF2B5EF4-FFF2-40B4-BE49-F238E27FC236}">
                <a16:creationId xmlns:a16="http://schemas.microsoft.com/office/drawing/2014/main" id="{0D1E0A89-F7F7-479B-A96D-7253F1B58DBC}"/>
              </a:ext>
            </a:extLst>
          </p:cNvPr>
          <p:cNvSpPr/>
          <p:nvPr/>
        </p:nvSpPr>
        <p:spPr>
          <a:xfrm>
            <a:off x="230612" y="5076857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kern="0" dirty="0">
                <a:solidFill>
                  <a:srgbClr val="434343"/>
                </a:solidFill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300;p30">
            <a:extLst>
              <a:ext uri="{FF2B5EF4-FFF2-40B4-BE49-F238E27FC236}">
                <a16:creationId xmlns:a16="http://schemas.microsoft.com/office/drawing/2014/main" id="{5D8FACB2-D096-4A41-95E3-7BACEBFD7B53}"/>
              </a:ext>
            </a:extLst>
          </p:cNvPr>
          <p:cNvSpPr/>
          <p:nvPr/>
        </p:nvSpPr>
        <p:spPr>
          <a:xfrm>
            <a:off x="3167634" y="288845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Google Shape;301;p30">
            <a:extLst>
              <a:ext uri="{FF2B5EF4-FFF2-40B4-BE49-F238E27FC236}">
                <a16:creationId xmlns:a16="http://schemas.microsoft.com/office/drawing/2014/main" id="{6E166EF2-E61C-42A1-9771-7964BEA8FA9B}"/>
              </a:ext>
            </a:extLst>
          </p:cNvPr>
          <p:cNvSpPr txBox="1"/>
          <p:nvPr/>
        </p:nvSpPr>
        <p:spPr>
          <a:xfrm>
            <a:off x="3514784" y="2888451"/>
            <a:ext cx="228636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 err="1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미팅음소거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스피커 전환 </a:t>
            </a:r>
            <a:r>
              <a:rPr lang="en-US" altLang="ko-KR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/ </a:t>
            </a: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통화 종료 버튼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9" name="Google Shape;375;p38">
            <a:extLst>
              <a:ext uri="{FF2B5EF4-FFF2-40B4-BE49-F238E27FC236}">
                <a16:creationId xmlns:a16="http://schemas.microsoft.com/office/drawing/2014/main" id="{BEC73F3B-1751-4402-B439-BCF4D08359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9955272"/>
              </p:ext>
            </p:extLst>
          </p:nvPr>
        </p:nvGraphicFramePr>
        <p:xfrm>
          <a:off x="6356220" y="2120044"/>
          <a:ext cx="5348097" cy="1202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98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r>
                        <a:rPr lang="en-US" altLang="ko-KR" sz="1400" b="1" dirty="0"/>
                        <a:t> 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/>
                        <a:t>Given#1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영상 통화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영상 통화 송수신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Live stream</a:t>
                      </a:r>
                      <a:r>
                        <a:rPr lang="ko-KR" altLang="en-US" dirty="0"/>
                        <a:t>으로 실시간 화상 통화 가능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9524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620029-5C12-47C4-B345-6E4A6AD1D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00" y="1620701"/>
            <a:ext cx="2257158" cy="4833262"/>
          </a:xfrm>
          <a:prstGeom prst="rect">
            <a:avLst/>
          </a:prstGeom>
        </p:spPr>
      </p:pic>
      <p:graphicFrame>
        <p:nvGraphicFramePr>
          <p:cNvPr id="296" name="Google Shape;296;p30"/>
          <p:cNvGraphicFramePr/>
          <p:nvPr>
            <p:extLst>
              <p:ext uri="{D42A27DB-BD31-4B8C-83A1-F6EECF244321}">
                <p14:modId xmlns:p14="http://schemas.microsoft.com/office/powerpoint/2010/main" val="3417598439"/>
              </p:ext>
            </p:extLst>
          </p:nvPr>
        </p:nvGraphicFramePr>
        <p:xfrm>
          <a:off x="358140" y="540000"/>
          <a:ext cx="11346175" cy="64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Page title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/>
                        <a:t>Screen ID</a:t>
                      </a:r>
                      <a:endParaRPr sz="1600" b="1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dirty="0" err="1"/>
                        <a:t>Screen</a:t>
                      </a:r>
                      <a:r>
                        <a:rPr lang="ko-KR" sz="1600" b="1" dirty="0"/>
                        <a:t> </a:t>
                      </a:r>
                      <a:r>
                        <a:rPr lang="ko-KR" sz="1600" b="1" dirty="0" err="1"/>
                        <a:t>Path</a:t>
                      </a:r>
                      <a:endParaRPr sz="1600" b="1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사용자 행동 로그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UI-M-2500</a:t>
                      </a:r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dirty="0"/>
                        <a:t>HOME&gt;</a:t>
                      </a:r>
                      <a:r>
                        <a:rPr lang="en-US" altLang="ko-KR" sz="1400" dirty="0"/>
                        <a:t>ACTIVITY-LOG</a:t>
                      </a:r>
                      <a:endParaRPr sz="1400" dirty="0"/>
                    </a:p>
                  </a:txBody>
                  <a:tcPr marL="99050" marR="99050" marT="45725" marB="45725" anchor="ctr">
                    <a:lnL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FE2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8" name="Google Shape;298;p30"/>
          <p:cNvSpPr/>
          <p:nvPr/>
        </p:nvSpPr>
        <p:spPr>
          <a:xfrm>
            <a:off x="3167634" y="1620701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3557834" y="1620701"/>
            <a:ext cx="224331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Arial"/>
                <a:ea typeface="Malgun Gothic"/>
                <a:cs typeface="Arial"/>
                <a:sym typeface="Arial"/>
              </a:rPr>
              <a:t>일자 선택 가능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3167634" y="225457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514784" y="2254576"/>
            <a:ext cx="228636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해당 일자에 대한 활동 기록 조회 가능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298;p30"/>
          <p:cNvSpPr/>
          <p:nvPr/>
        </p:nvSpPr>
        <p:spPr>
          <a:xfrm>
            <a:off x="230612" y="1920850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300;p30"/>
          <p:cNvSpPr/>
          <p:nvPr/>
        </p:nvSpPr>
        <p:spPr>
          <a:xfrm>
            <a:off x="230612" y="2459156"/>
            <a:ext cx="339900" cy="3483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376;p38">
            <a:extLst>
              <a:ext uri="{FF2B5EF4-FFF2-40B4-BE49-F238E27FC236}">
                <a16:creationId xmlns:a16="http://schemas.microsoft.com/office/drawing/2014/main" id="{FD9B2B33-471E-494C-927D-82F3AFB2C42B}"/>
              </a:ext>
            </a:extLst>
          </p:cNvPr>
          <p:cNvSpPr txBox="1"/>
          <p:nvPr/>
        </p:nvSpPr>
        <p:spPr>
          <a:xfrm>
            <a:off x="6356219" y="1620701"/>
            <a:ext cx="169439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✔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</a:t>
            </a: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</a:t>
            </a:r>
            <a:r>
              <a:rPr lang="ko-KR"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ist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0" name="Google Shape;375;p38">
            <a:extLst>
              <a:ext uri="{FF2B5EF4-FFF2-40B4-BE49-F238E27FC236}">
                <a16:creationId xmlns:a16="http://schemas.microsoft.com/office/drawing/2014/main" id="{CF9EF964-8181-47F4-BEC0-6B5207F4A5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529486"/>
              </p:ext>
            </p:extLst>
          </p:nvPr>
        </p:nvGraphicFramePr>
        <p:xfrm>
          <a:off x="6356220" y="2120044"/>
          <a:ext cx="5348097" cy="1202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4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1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598"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No</a:t>
                      </a:r>
                      <a:r>
                        <a:rPr lang="en-US" altLang="ko-KR" sz="1400" b="1" dirty="0"/>
                        <a:t> 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/>
                        <a:t>Given#1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/>
                        <a:t>Given#2</a:t>
                      </a:r>
                      <a:endParaRPr sz="140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/>
                        <a:t>W</a:t>
                      </a:r>
                      <a:r>
                        <a:rPr lang="ko-KR" sz="1400" b="1" dirty="0" err="1"/>
                        <a:t>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dirty="0" err="1"/>
                        <a:t>Then</a:t>
                      </a:r>
                      <a:endParaRPr sz="1400" dirty="0"/>
                    </a:p>
                  </a:txBody>
                  <a:tcPr marL="37450" marR="37450" marT="18725" marB="18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dirty="0"/>
                        <a:t>1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하루의 행동을 기록</a:t>
                      </a:r>
                      <a:endParaRPr dirty="0"/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낙상 감지 뿐 아니라 하루의 행동 로그 기록</a:t>
                      </a:r>
                    </a:p>
                  </a:txBody>
                  <a:tcPr marL="37450" marR="37450" marT="11225" marB="112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1183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1027</Words>
  <Application>Microsoft Office PowerPoint</Application>
  <PresentationFormat>와이드스크린</PresentationFormat>
  <Paragraphs>398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Malgun Gothic</vt:lpstr>
      <vt:lpstr>Malgun Gothic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multicampus</dc:creator>
  <cp:lastModifiedBy>예지 권</cp:lastModifiedBy>
  <cp:revision>15</cp:revision>
  <dcterms:created xsi:type="dcterms:W3CDTF">2021-01-21T06:50:02Z</dcterms:created>
  <dcterms:modified xsi:type="dcterms:W3CDTF">2026-01-22T23:57:15Z</dcterms:modified>
</cp:coreProperties>
</file>